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657600" cy="3657600"/>
          </a:xfrm>
          <a:prstGeom prst="ellipse">
            <a:avLst/>
          </a:prstGeom>
          <a:solidFill>
            <a:srgbClr val="2A2624"/>
          </a:solidFill>
          <a:ln/>
        </p:spPr>
      </p:sp>
      <p:pic>
        <p:nvPicPr>
          <p:cNvPr id="4" name="Image 0" descr="/sessions/vigilant-great-mendel/mnt/La Marmite du Kloto · Bar-Resto/LOGO-Marmite_du_Kl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77240" cy="7772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669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RESTO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Marmite du Kloto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58368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application de gestion — tout le restaurant dans une seule appli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&amp; caisse, tables, bar &amp; stock, cuisine, WhatsApp &amp; livraison, dépenses, rapports et clôture du jour.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Avedji, non loin de la Côte d'Or   ·   Tél. +228 91 04 27 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Proposé par OPTINET SARLU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Aujourd'hui, tout à la main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cahier fait perdre du temps et de l'argent.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AF7F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cahier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notées à la main : pertes et erreurs.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A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468880"/>
            <a:ext cx="822960" cy="82296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stock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1188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sait pas ce qui reste au bar.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AF7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468880"/>
            <a:ext cx="822960" cy="82296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 livreurs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de savoir qui a encaissé quoi.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AF7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468880"/>
            <a:ext cx="822960" cy="82296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8972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 bénéfices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8972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gain reste flou en fin de journée.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Une seule application, tous les métiers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modules reliés entre eux, à vos couleurs.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060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606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Ventes &amp; caisse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6060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6060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2606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Bar &amp; stock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06840" y="21945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26060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0" y="2606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Cuisine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4348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Livraison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40233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44348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Dépenses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44348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6948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Rapports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06840" y="40233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A2624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0" y="4434840"/>
            <a:ext cx="731520" cy="7315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5840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Clôture du jour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Vente sur place &amp; tables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commande reliée à sa table ; facture imprimable pour débarrasser.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960120" cy="9601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57400" y="21671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Choisir la table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2660904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30 tables, numéro saisissable au-delà.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960120" cy="9601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057400" y="35387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Ajouter plats &amp; boissons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57400" y="4032504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s'ajoute à l'ardoise de la table.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960120" cy="9601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92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57400" y="49103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Encaisser / facturer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57400" y="5404104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ou facture imprimé, table libérée.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FAF7F3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 de salle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49640" y="28803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FDEBDA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30175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760" y="28803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E7F1E8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30175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69880" y="28803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FDEBDA"/>
          </a:solidFill>
          <a:ln/>
        </p:spPr>
      </p:sp>
      <p:sp>
        <p:nvSpPr>
          <p:cNvPr id="23" name="Text 21"/>
          <p:cNvSpPr/>
          <p:nvPr/>
        </p:nvSpPr>
        <p:spPr>
          <a:xfrm>
            <a:off x="10469880" y="30175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49640" y="42519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43891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42519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E7F1E8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43891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51960"/>
            <a:ext cx="841248" cy="1143000"/>
          </a:xfrm>
          <a:prstGeom prst="roundRect">
            <a:avLst>
              <a:gd name="adj" fmla="val 6522"/>
            </a:avLst>
          </a:prstGeom>
          <a:solidFill>
            <a:srgbClr val="FDEBDA"/>
          </a:solidFill>
          <a:ln/>
        </p:spPr>
      </p:sp>
      <p:sp>
        <p:nvSpPr>
          <p:cNvPr id="29" name="Text 27"/>
          <p:cNvSpPr/>
          <p:nvPr/>
        </p:nvSpPr>
        <p:spPr>
          <a:xfrm>
            <a:off x="10469880" y="4389120"/>
            <a:ext cx="841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= libre · Orange = occupée · Jaune = à payer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Commandes WhatsApp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saisit à la main ; l'application édite deux bons.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&amp; bons : La Marmite du Kloto · Avedji · +228 91 04 27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AF7F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5120640" cy="6858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 — cuisine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Poulet braisé            10 000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× Riz au gras              2 000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× Fufu                        4 500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50749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E1B1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5074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 plats à faire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50749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E1B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148840"/>
            <a:ext cx="5349240" cy="6858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48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LIVRAISON — livreur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AF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Livreur : Kofi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AF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: Mme Adjo · Agoè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AF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encaisser 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15 000 FCFA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Livraison &amp; comptes des livreurs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livraison reliée à son livreur ; comptes du soir.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A262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87168"/>
            <a:ext cx="548640" cy="54864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Kofi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2423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livraisons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2423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45 000 F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A262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30168"/>
            <a:ext cx="548640" cy="54864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Kossi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livraisons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566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28 500 F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A2624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773168"/>
            <a:ext cx="548640" cy="54864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73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4709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Mensah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livraisons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17 000 F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 de journée, chacun remet le montant exact encaissé.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Bar — catalogue &amp; stock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boissons, prix par défaut modifiable, déstockage automatique.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Bières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22402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40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Sucreries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22402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240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Eaux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24160" y="22402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Énergisantes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347472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AF7F3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Whiskys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24160" y="347472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66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E1B1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Stockage &amp; déstockage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à l'appro · sortie automatique à chaque vente · alerte quand le stock est bas. Nouveauté : vins et whiskys ajoutés au catalogue.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Cuisine &amp; menu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plats, prix saisi à la commande, une photo par plat.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766560" cy="3977640"/>
          </a:xfrm>
          <a:prstGeom prst="roundRect">
            <a:avLst>
              <a:gd name="adj" fmla="val 2299"/>
            </a:avLst>
          </a:prstGeom>
          <a:solidFill>
            <a:srgbClr val="FAF7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Fufu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braisé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Poulet braisé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7432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Attiéké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 blanc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 au gras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Pomme sauté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Khom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210312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1E1B1A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Bon de cuisine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de chaque plat et le nombre total de plats à faire. Le cuisinier voit d'un coup combien de plats sortir.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plat porte une photo pour faciliter la prise de commande.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Dépenses &amp; solde de caisse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enregistre les vraies dépenses, sans dépasser la caisse.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30428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catégorie (achats bar, marché, transport, salaires…).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17296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montant et la description.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04164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et le revenu net se mettent à jour partout.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0" y="228600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F47C2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DISPONIBLE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130 000 F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4672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2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dépense supérieure au solde est refusée.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de caisse + recettes espèces − dépenses = solde disponible.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Chaque soir, vous savez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par source, dépenses, puis résultat net.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DU JOUR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2A262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BAR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140 000 F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2A2624"/>
          </a:solidFill>
          <a:ln/>
        </p:spPr>
      </p:sp>
      <p:sp>
        <p:nvSpPr>
          <p:cNvPr id="9" name="Text 7"/>
          <p:cNvSpPr/>
          <p:nvPr/>
        </p:nvSpPr>
        <p:spPr>
          <a:xfrm>
            <a:off x="3630168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CUISINE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1188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180 000 F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2A26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30 000 F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9006840" y="21488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47C20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7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8972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350 000 F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&amp; RÉSULTAT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A262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53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DU JOUR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120 000 F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bar 70 000 · Marché 35 000 · Transport 15 000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47C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553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FINAL (NET)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2512" y="4937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230 000 F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− Dépenses = 350 000 − 120 000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Rapports imprimables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rapport consultable et imprimable individuellement (ou en PDF).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Ventes bar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· vendu · restant · 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Ventes cuisine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 vendus et 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Livraisons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livreur et CA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Dépenses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catégorie, ligne par ligne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Revenus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recettes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46720" y="3977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AF7F3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Bilan du jour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dépenses, bénéfice net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Clôture du jour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compartiment a rapporté, et l'arrêté de caisse.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2A262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PAR COMPARTIMENT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bar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cuisine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7432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140 000 F</a:t>
            </a:r>
            <a:endParaRPr lang="en-US" sz="1500" dirty="0"/>
          </a:p>
          <a:p>
            <a:pPr algn="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 F</a:t>
            </a:r>
            <a:endParaRPr lang="en-US" sz="1500" dirty="0"/>
          </a:p>
          <a:p>
            <a:pPr algn="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F</a:t>
            </a:r>
            <a:endParaRPr lang="en-US" sz="1500" dirty="0"/>
          </a:p>
          <a:p>
            <a:pPr algn="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350 000 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2A2624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ARRÊTÉ DE CAISSE (ESPÈCES)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8346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théorique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réel compté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0" y="2834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F</a:t>
            </a:r>
            <a:endParaRPr lang="en-US" sz="15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F</a:t>
            </a:r>
            <a:endParaRPr lang="en-US" sz="15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47C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37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Résultat net de la journée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0" y="4937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230 000 F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commence simple, on grandit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tout construire d'un coup.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AF7F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286000"/>
            <a:ext cx="3429000" cy="82296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Étape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L'essentiel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Ventes, tables, caisse, bar/stock, dépenses, rapports.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A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286000"/>
            <a:ext cx="3429000" cy="822960"/>
          </a:xfrm>
          <a:prstGeom prst="rect">
            <a:avLst/>
          </a:prstGeom>
          <a:solidFill>
            <a:srgbClr val="1E1B1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Étape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confort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bons cuisine/livraison, livreurs, clôture.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28600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AF7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2286000"/>
            <a:ext cx="3429000" cy="822960"/>
          </a:xfrm>
          <a:prstGeom prst="rect">
            <a:avLst/>
          </a:prstGeom>
          <a:solidFill>
            <a:srgbClr val="D9661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Étape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Plus loin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F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mobile, commandes en ligne, multi-points.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47C2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286000"/>
            <a:ext cx="5029200" cy="5029200"/>
          </a:xfrm>
          <a:prstGeom prst="ellipse">
            <a:avLst/>
          </a:prstGeom>
          <a:solidFill>
            <a:srgbClr val="2A2624"/>
          </a:solidFill>
          <a:ln/>
        </p:spPr>
      </p:sp>
      <p:pic>
        <p:nvPicPr>
          <p:cNvPr id="4" name="Image 0" descr="/sessions/vigilant-great-mendel/mnt/La Marmite du Kloto · Bar-Resto/LOGO-Marmite_du_Kl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822960" cy="8229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14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Prête à simplifier La Marmite du Kloto 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9808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 de la première étape ensemble.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" y="4892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C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OPTINET SARLU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+228 90 74 84 65     ·     optinetsarl@gmail.com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Marmite du Kloto · Avedji, non loin de la Côte d'Or · +228 91 04 27 02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2026-07-22T14:24:10Z</dcterms:created>
  <dcterms:modified xsi:type="dcterms:W3CDTF">2026-07-22T14:24:10Z</dcterms:modified>
</cp:coreProperties>
</file>