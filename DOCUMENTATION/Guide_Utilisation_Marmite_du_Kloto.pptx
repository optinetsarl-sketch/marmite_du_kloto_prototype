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C"/>
          </a:solidFill>
          <a:ln>
            <a:solidFill>
              <a:srgbClr val="0B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ptinet-sok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377440" cy="158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APPLICATION TACTILE DE GESTION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LA MARMITE DU KLOTO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Guide d'Utilisation Complet &amp; Manuel d'Exploitation Operatoire</a:t>
            </a:r>
          </a:p>
          <a:p>
            <a:br/>
            <a:pPr>
              <a:defRPr sz="1200" b="1">
                <a:solidFill>
                  <a:srgbClr val="1B7E41"/>
                </a:solidFill>
              </a:defRPr>
            </a:pPr>
            <a:r>
              <a:t>✔ Ventes &amp; Caisse Tactile  ·  ✔ Bons de Cuisine Directs  ·  ✔ Gestion Stock Bar  ·  ✔ Clôture du Jour &amp; Synchro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Client : LA MARMITE DU KLOTO (Bar-Restaurant - Lomé, Togo)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Conception &amp; Déploiement : OPTINET SARL U  |  Directeur Général : M. NABINE Tassounti  |  Version 2026.1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GUIDE D'UTILISATION — LA MARMITE DU KLOTO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SOMMAIRE &amp; ARCHITECTURE DE L'APPLICATION</a:t>
            </a:r>
          </a:p>
        </p:txBody>
      </p:sp>
      <p:pic>
        <p:nvPicPr>
          <p:cNvPr id="4" name="Picture 3" descr="logo-Optinet-sok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828800" cy="121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4C"/>
          </a:solidFill>
          <a:ln>
            <a:solidFill>
              <a:srgbClr val="0B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OPTINET SARL U · Ingénierie Informatique &amp; Logiciels Sur Mesure · Tél : +228 90 74 84 65 / 99 05 84 71 · optinetsarl@gmail.com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0F4C81"/>
                </a:solidFill>
              </a:defRPr>
            </a:pPr>
            <a:r>
              <a:t>📋 SOMMAIRE DU MANUEL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1. Prise en main &amp; Ventes Tactiles (Sur place / Emporter / Livraison)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2. Transmission &amp; Impression des Bons de Cuisine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3. Gestion de la Caisse, Encaissements &amp; Monnaie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4. Suivi des Stocks de Boissons du Bar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5. Enregistrement des Dépenses &amp; Charges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6. Clôture de Journée &amp; Arrêté de Caisse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7. Rapports Financiers &amp; Bilan de Gestion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t>8. Sécurité, Mode Hors-Ligne &amp; Synchro MongoDB Atlas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500" b="1">
                <a:solidFill>
                  <a:srgbClr val="1B7E41"/>
                </a:solidFill>
              </a:defRPr>
            </a:pPr>
            <a:r>
              <a:t>⚡ CONCEPTION &amp; ATOUTS TECHNIQUES</a:t>
            </a:r>
          </a:p>
          <a:p>
            <a:pPr>
              <a:spcBef>
                <a:spcPts val="1000"/>
              </a:spcBef>
              <a:defRPr sz="1200" b="1">
                <a:solidFill>
                  <a:srgbClr val="0F4C81"/>
                </a:solidFill>
              </a:defRPr>
            </a:pPr>
            <a:r>
              <a:t>🚀 Mode Autonome 100% Local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Fonctionne sans aucune coupure même sans connexion Internet grâce à la base de données MongoDB Locale embarquée.</a:t>
            </a:r>
          </a:p>
          <a:p>
            <a:pPr>
              <a:spcBef>
                <a:spcPts val="1000"/>
              </a:spcBef>
              <a:defRPr sz="1200" b="1">
                <a:solidFill>
                  <a:srgbClr val="0F4C81"/>
                </a:solidFill>
              </a:defRPr>
            </a:pPr>
            <a:r>
              <a:t>☁️ Synchronisation Cloud MongoDB Atlas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Sauvegarde permanente et automatique en arrière-plan vers le Cloud Atlas dès que le réseau est disponible.</a:t>
            </a:r>
          </a:p>
          <a:p>
            <a:pPr>
              <a:spcBef>
                <a:spcPts val="1000"/>
              </a:spcBef>
              <a:defRPr sz="1200" b="1">
                <a:solidFill>
                  <a:srgbClr val="0F4C81"/>
                </a:solidFill>
              </a:defRPr>
            </a:pPr>
            <a:r>
              <a:t>🖥️ Interface Tactile Haute Vitesse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Conçue sur-mesure pour écran tactile, tablette et PC comptoir sans fenêtres intempestives.</a:t>
            </a:r>
          </a:p>
          <a:p>
            <a:pPr>
              <a:spcBef>
                <a:spcPts val="1000"/>
              </a:spcBef>
              <a:defRPr sz="1200" b="1">
                <a:solidFill>
                  <a:srgbClr val="0F4C81"/>
                </a:solidFill>
              </a:defRPr>
            </a:pPr>
            <a:r>
              <a:t>🔒 Démarrage Silencieux Windows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L'application démarre automatiquement en tâche de fond au boot du PC sans bloquer le système.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GUIDE D'UTILISATION — LA MARMITE DU KLOTO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1 : VENTES &amp; PRISE DE COMMANDE TACTILE</a:t>
            </a:r>
          </a:p>
        </p:txBody>
      </p:sp>
      <p:pic>
        <p:nvPicPr>
          <p:cNvPr id="4" name="Picture 3" descr="logo-Optinet-sok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828800" cy="121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4C"/>
          </a:solidFill>
          <a:ln>
            <a:solidFill>
              <a:srgbClr val="0B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OPTINET SARL U · Ingénierie Informatique &amp; Logiciels Sur Mesure · Tél : +228 90 74 84 65 / 99 05 84 71 · optinetsarl@gmail.com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47548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F4C81"/>
                </a:solidFill>
              </a:defRPr>
            </a:pPr>
            <a:r>
              <a:t>🛒 FONCTIONNEMENT DES VENTES</a:t>
            </a:r>
          </a:p>
          <a:p>
            <a:pPr>
              <a:spcBef>
                <a:spcPts val="600"/>
              </a:spcBef>
              <a:defRPr sz="1100" b="1">
                <a:solidFill>
                  <a:srgbClr val="0F4C81"/>
                </a:solidFill>
              </a:defRPr>
            </a:pPr>
            <a:r>
              <a:t>1. Sélection du type de commande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Choix direct via les onglets : Sur Place, À Emporter, ou Livraison.</a:t>
            </a:r>
          </a:p>
          <a:p>
            <a:pPr>
              <a:spcBef>
                <a:spcPts val="600"/>
              </a:spcBef>
              <a:defRPr sz="1100" b="1">
                <a:solidFill>
                  <a:srgbClr val="0F4C81"/>
                </a:solidFill>
              </a:defRPr>
            </a:pPr>
            <a:r>
              <a:t>2. Affectation de Table ou Client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Attribution dynamique des tables de la salle ou saisie du nom du client/livreur.</a:t>
            </a:r>
          </a:p>
          <a:p>
            <a:pPr>
              <a:spcBef>
                <a:spcPts val="600"/>
              </a:spcBef>
              <a:defRPr sz="1100" b="1">
                <a:solidFill>
                  <a:srgbClr val="0F4C81"/>
                </a:solidFill>
              </a:defRPr>
            </a:pPr>
            <a:r>
              <a:t>3. Ajout Tactile Instantané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Touchez les catégories puis les plats/boissons pour composer l'ardoise.</a:t>
            </a:r>
          </a:p>
          <a:p>
            <a:pPr>
              <a:spcBef>
                <a:spcPts val="600"/>
              </a:spcBef>
              <a:defRPr sz="1100" b="1">
                <a:solidFill>
                  <a:srgbClr val="0F4C81"/>
                </a:solidFill>
              </a:defRPr>
            </a:pPr>
            <a:r>
              <a:t>4. Recherche Rapide &amp; Stock en temps réel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Barre de recherche intégrée et affichage dynamique des alertes de rupture.</a:t>
            </a:r>
          </a:p>
          <a:p>
            <a:pPr>
              <a:spcBef>
                <a:spcPts val="600"/>
              </a:spcBef>
              <a:defRPr sz="1100" b="1">
                <a:solidFill>
                  <a:srgbClr val="0F4C81"/>
                </a:solidFill>
              </a:defRPr>
            </a:pPr>
            <a:r>
              <a:t>5. Effacement Automatique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Après validation ou changement de mode, le panier se réinitialise automatiquement pour la commande suivante.</a:t>
            </a:r>
          </a:p>
        </p:txBody>
      </p:sp>
      <p:pic>
        <p:nvPicPr>
          <p:cNvPr id="7" name="Picture 6" descr="ventes_products_loaded_17852298600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6126480" cy="62593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GUIDE D'UTILISATION — LA MARMITE DU KLOTO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2 : BONS DE CUISINE &amp; TRANSMISSION EN DIRECT</a:t>
            </a:r>
          </a:p>
        </p:txBody>
      </p:sp>
      <p:pic>
        <p:nvPicPr>
          <p:cNvPr id="4" name="Picture 3" descr="logo-Optinet-sok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828800" cy="121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4C"/>
          </a:solidFill>
          <a:ln>
            <a:solidFill>
              <a:srgbClr val="0B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OPTINET SARL U · Ingénierie Informatique &amp; Logiciels Sur Mesure · Tél : +228 90 74 84 65 / 99 05 84 71 · optinetsarl@gmail.com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47548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t>🔥 TRANSMISSION &amp; IMPRESSION CUISINE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Détection automatique du rayon Cuisine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Les boissons sont gérées au bar, seuls les plats de nourriture déclenchent l'envoi en cuisine.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Bouton « Imprimer le Bon de Cuisine »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Un clic génère la modale et l'impression thermique directe pour le chef cuisinier.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Numérotation &amp; Instructions spécifiques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Rappel du numéro de table, nom du client et des notes (ex: « peu pimenté »).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Synchronisation Écran Cuisine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Les commandes apparaissent en temps réel sur l'écran d'affichage cuisine (`/cuisine`).</a:t>
            </a:r>
          </a:p>
        </p:txBody>
      </p:sp>
      <p:pic>
        <p:nvPicPr>
          <p:cNvPr id="7" name="Picture 6" descr="bon_cuisine_modal_17852602348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6126480" cy="57725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GUIDE D'UTILISATION — LA MARMITE DU KLOTO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3 : ENCAISSEMENTS, MULTI-PAIEMENT &amp; REÇUS</a:t>
            </a:r>
          </a:p>
        </p:txBody>
      </p:sp>
      <p:pic>
        <p:nvPicPr>
          <p:cNvPr id="4" name="Picture 3" descr="logo-Optinet-sok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828800" cy="121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4C"/>
          </a:solidFill>
          <a:ln>
            <a:solidFill>
              <a:srgbClr val="0B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OPTINET SARL U · Ingénierie Informatique &amp; Logiciels Sur Mesure · Tél : +228 90 74 84 65 / 99 05 84 71 · optinetsarl@gmail.com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47548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B7E41"/>
                </a:solidFill>
              </a:defRPr>
            </a:pPr>
            <a:r>
              <a:t>💰 RÈGLEMENT &amp; ÉMISSION DE TICKETS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Modes de Paiement Multiples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Prise en charge : Espèces, TMoney, Flooz, Carte bancaire / Virement.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Calculateur Automatique de Monnaie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Saisie du montant reçu en espèces et affichage instantané de la monnaie à rendre.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Impression de l'Addition Client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Édition du ticket récapitulatif avant encaissement à la demande du client.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Émission du Reçu Officiel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Génération du reçu de caisse numéroté après validation du paiement.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Libération Automatique de Table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La table occupée repasse instantanément à l'état « Libre ».</a:t>
            </a:r>
          </a:p>
        </p:txBody>
      </p:sp>
      <p:pic>
        <p:nvPicPr>
          <p:cNvPr id="7" name="Picture 6" descr="caisse_page_1785229697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6126480" cy="62593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GUIDE D'UTILISATION — LA MARMITE DU KLOTO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4 : GESTION DES STOCKS DU BAR &amp; ALERTES</a:t>
            </a:r>
          </a:p>
        </p:txBody>
      </p:sp>
      <p:pic>
        <p:nvPicPr>
          <p:cNvPr id="4" name="Picture 3" descr="logo-Optinet-sok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828800" cy="121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4C"/>
          </a:solidFill>
          <a:ln>
            <a:solidFill>
              <a:srgbClr val="0B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OPTINET SARL U · Ingénierie Informatique &amp; Logiciels Sur Mesure · Tél : +228 90 74 84 65 / 99 05 84 71 · optinetsarl@gmail.com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47548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F4C81"/>
                </a:solidFill>
              </a:defRPr>
            </a:pPr>
            <a:r>
              <a:t>🍺 SUIVI DU BAR &amp; BOISSONS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Déstockage Automatique des Boissons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Chaque bouteille vendue décrémente automatiquement le stock physique en base.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Entrées en Stock &amp; Réceptions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Enregistrement des livraisons de boissons avec identification du fournisseur.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Seuils d'Alerte &amp; Ruptures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Indicateurs visuels intelligents : Vert (Stock OK), Jaune (Stock Bas), Rouge (Rupture).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Blocage Anti-Vente à Découvert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Impossibilité de commander une boisson en rupture de stock sur l'écran caisse.</a:t>
            </a:r>
          </a:p>
        </p:txBody>
      </p:sp>
      <p:pic>
        <p:nvPicPr>
          <p:cNvPr id="7" name="Picture 6" descr="bar_stock_page_17852300511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6126480" cy="62593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GUIDE D'UTILISATION — LA MARMITE DU KLOTO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5 : ENREGISTREMENT DES DÉPENSES &amp; CHARGES</a:t>
            </a:r>
          </a:p>
        </p:txBody>
      </p:sp>
      <p:pic>
        <p:nvPicPr>
          <p:cNvPr id="4" name="Picture 3" descr="logo-Optinet-sok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828800" cy="121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4C"/>
          </a:solidFill>
          <a:ln>
            <a:solidFill>
              <a:srgbClr val="0B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OPTINET SARL U · Ingénierie Informatique &amp; Logiciels Sur Mesure · Tél : +228 90 74 84 65 / 99 05 84 71 · optinetsarl@gmail.com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47548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F4C81"/>
                </a:solidFill>
              </a:defRPr>
            </a:pPr>
            <a:r>
              <a:t>💸 SUIVI DES SORTIES DE CAISSE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Catégorisation des Achats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Achats Bar, Achats Cuisine, Transport, Salaires, Électricité/Eau, Entretien, Autres.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Impact Direct sur la Caisse Espèces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Les dépenses en espèces sont immédiatement soustraites du montant théorique en caisse.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Historique Horodaté &amp; Justificatifs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Traces comptables complètes avec descriptions et modes de paiement.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Intégration au Calcul du Résultat Net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Calcul automatique du résultat net : `Résultat = Recettes Totales − Dépenses`.</a:t>
            </a:r>
          </a:p>
        </p:txBody>
      </p:sp>
      <p:pic>
        <p:nvPicPr>
          <p:cNvPr id="7" name="Picture 6" descr="depenses_page_17852302230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6126480" cy="6259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GUIDE D'UTILISATION — LA MARMITE DU KLOTO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6 : CLÔTURE DU JOUR &amp; ARRÊTÉ DE CAISSE</a:t>
            </a:r>
          </a:p>
        </p:txBody>
      </p:sp>
      <p:pic>
        <p:nvPicPr>
          <p:cNvPr id="4" name="Picture 3" descr="logo-Optinet-sok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828800" cy="121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4C"/>
          </a:solidFill>
          <a:ln>
            <a:solidFill>
              <a:srgbClr val="0B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OPTINET SARL U · Ingénierie Informatique &amp; Logiciels Sur Mesure · Tél : +228 90 74 84 65 / 99 05 84 71 · optinetsarl@gmail.com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47548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1B7E41"/>
                </a:solidFill>
              </a:defRPr>
            </a:pPr>
            <a:r>
              <a:t>🔒 ARRÊTÉ DE FIN DE JOURNÉE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Session de Caisse Automatique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La journée est automatiquement ouverte avec suivi en temps réel du tiroir-caisse.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Arrêté des Espèces Théoriques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Calcul exact : `Fond Initial + Recettes Espèces − Dépenses Espèces`.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Comptage Réel &amp; Calcul d'Écart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Saisie du montant réel compté au tiroir et calcul instantané de l'écart.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• Édition de la Feuille de Clôture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Génération du rapport complet de clôture avec zones de signature du gérant.</a:t>
            </a:r>
          </a:p>
        </p:txBody>
      </p:sp>
      <p:pic>
        <p:nvPicPr>
          <p:cNvPr id="7" name="Picture 6" descr="cloture_page_17852302792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6126480" cy="62593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GUIDE D'UTILISATION — LA MARMITE DU KLOTO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MODULE 7 : RAPPORTS FINANCIERS &amp; ANALYSES</a:t>
            </a:r>
          </a:p>
        </p:txBody>
      </p:sp>
      <p:pic>
        <p:nvPicPr>
          <p:cNvPr id="4" name="Picture 3" descr="logo-Optinet-sok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828800" cy="121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4C"/>
          </a:solidFill>
          <a:ln>
            <a:solidFill>
              <a:srgbClr val="0B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OPTINET SARL U · Ingénierie Informatique &amp; Logiciels Sur Mesure · Tél : +228 90 74 84 65 / 99 05 84 71 · optinetsarl@gmail.com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47548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400" b="1">
                <a:solidFill>
                  <a:srgbClr val="0F4C81"/>
                </a:solidFill>
              </a:defRPr>
            </a:pPr>
            <a:r>
              <a:t>📊 STATISTIQUES &amp; RAPPORTS DE GESTION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Filtres Temporels Riches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Consultation par Jour, Semaine, Mois ou plage de dates personnalisée.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Ventilation des Revenus par Source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Analyse séparée des ventes Bar, Cuisine et Livraisons.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Classement Top des Ventes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Palmarès des plats et boissons les plus vendus de la période.</a:t>
            </a:r>
          </a:p>
          <a:p>
            <a:pPr>
              <a:spcBef>
                <a:spcPts val="800"/>
              </a:spcBef>
              <a:defRPr sz="1150" b="1">
                <a:solidFill>
                  <a:srgbClr val="0F4C81"/>
                </a:solidFill>
              </a:defRPr>
            </a:pPr>
            <a:r>
              <a:t>✔ Bilan Général &amp; Impression PDF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Impression des états financiers officiels pour la direction.</a:t>
            </a:r>
          </a:p>
        </p:txBody>
      </p:sp>
      <p:pic>
        <p:nvPicPr>
          <p:cNvPr id="7" name="Picture 6" descr="rapports_page_17852302639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6126480" cy="62593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4C81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9728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GUIDE D'UTILISATION — LA MARMITE DU KLOTO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SUPPORT TECHNIQUE, GARANTIE &amp; OPTINET SARL U</a:t>
            </a:r>
          </a:p>
        </p:txBody>
      </p:sp>
      <p:pic>
        <p:nvPicPr>
          <p:cNvPr id="4" name="Picture 3" descr="logo-Optinet-sok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37160"/>
            <a:ext cx="1828800" cy="121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B2B4C"/>
          </a:solidFill>
          <a:ln>
            <a:solidFill>
              <a:srgbClr val="0B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91440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OPTINET SARL U · Ingénierie Informatique &amp; Logiciels Sur Mesure · Tél : +228 90 74 84 65 / 99 05 84 71 · optinetsarl@gmail.com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🤝 ENGAGEMENT SERVICE &amp; SUPPORT CLIENT</a:t>
            </a:r>
          </a:p>
          <a:p>
            <a:pPr>
              <a:spcBef>
                <a:spcPts val="1200"/>
              </a:spcBef>
              <a:defRPr sz="1250" b="1">
                <a:solidFill>
                  <a:srgbClr val="1B7E41"/>
                </a:solidFill>
              </a:defRPr>
            </a:pPr>
            <a:r>
              <a:t>🛡️ Garantie &amp; Assistance Technique (6 Mois)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Maintenance préventive, mises à jour correctives et assistance utilisateur incluses pendant 6 mois à compter de la livraison.</a:t>
            </a:r>
          </a:p>
          <a:p>
            <a:pPr>
              <a:spcBef>
                <a:spcPts val="1200"/>
              </a:spcBef>
              <a:defRPr sz="1250" b="1">
                <a:solidFill>
                  <a:srgbClr val="1B7E41"/>
                </a:solidFill>
              </a:defRPr>
            </a:pPr>
            <a:r>
              <a:t>🌐 Cloud &amp; Sauvegarde MongoDB Atlas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Vos données de vente et de stock sont dupliquées automatiquement sur le Cloud MongoDB Atlas sécurisé.</a:t>
            </a:r>
          </a:p>
          <a:p>
            <a:pPr>
              <a:spcBef>
                <a:spcPts val="1200"/>
              </a:spcBef>
              <a:defRPr sz="1250" b="1">
                <a:solidFill>
                  <a:srgbClr val="1B7E41"/>
                </a:solidFill>
              </a:defRPr>
            </a:pPr>
            <a:r>
              <a:t>📄 Facturation &amp; Bordereau de Livraison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Facture Proforma &amp; Définitive N° FAC/MK/2026/07/001 (150 000 FCFA Net à payer) et Bordereau de Livraison N° BL/MK/2026/07/001 édités sur 1 page A4.</a:t>
            </a:r>
          </a:p>
          <a:p>
            <a:pPr>
              <a:spcBef>
                <a:spcPts val="1200"/>
              </a:spcBef>
              <a:defRPr sz="1250" b="1">
                <a:solidFill>
                  <a:srgbClr val="1B7E41"/>
                </a:solidFill>
              </a:defRPr>
            </a:pPr>
            <a:r>
              <a:t>📞 Contact &amp; Hotline Technique OPTINET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Téléphone : (+228) 90 74 84 65 / 99 05 84 71  ·  Email : optinetsarl@gmail.com  ·  Siège : Lomé-Agoè Cacavéli, Derrière la CEET, Togo</a:t>
            </a:r>
          </a:p>
        </p:txBody>
      </p:sp>
      <p:pic>
        <p:nvPicPr>
          <p:cNvPr id="7" name="Picture 6" descr="Cachet Directeur OPTI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4114800"/>
            <a:ext cx="2286000" cy="10450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